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Salud procesal</c:v>
                </c:pt>
              </c:strCache>
            </c:strRef>
          </c:tx>
          <c:spPr>
            <a:solidFill>
              <a:srgbClr val="37D6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EAF1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01332-2017</c:v>
                  </c:pt>
                  <c:pt idx="1">
                    <c:v>07333-2022</c:v>
                  </c:pt>
                  <c:pt idx="2">
                    <c:v>09332-2022</c:v>
                  </c:pt>
                  <c:pt idx="3">
                    <c:v>09359-2017</c:v>
                  </c:pt>
                  <c:pt idx="4">
                    <c:v>16331-2017</c:v>
                  </c:pt>
                  <c:pt idx="5">
                    <c:v>17230-2017</c:v>
                  </c:pt>
                  <c:pt idx="6">
                    <c:v>19303-2017</c:v>
                  </c:pt>
                  <c:pt idx="7">
                    <c:v>23331-2017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20</c:v>
                </c:pt>
                <c:pt idx="2">
                  <c:v>50</c:v>
                </c:pt>
                <c:pt idx="3">
                  <c:v>65</c:v>
                </c:pt>
                <c:pt idx="4">
                  <c:v>0</c:v>
                </c:pt>
                <c:pt idx="5">
                  <c:v>20</c:v>
                </c:pt>
                <c:pt idx="6">
                  <c:v>66.7</c:v>
                </c:pt>
                <c:pt idx="7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EAF1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FA3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7345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FA3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E3C"/>
        </a:solidFill>
        <a:ln>
          <a:noFill/>
        </a:ln>
        <a:effectLst/>
      </c:spPr>
    </c:plotArea>
    <c:plotVisOnly val="1"/>
    <c:dispBlanksAs val="span"/>
  </c:chart>
  <c:spPr>
    <a:solidFill>
      <a:srgbClr val="141E3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4069080"/>
            <a:ext cx="3017520" cy="457200"/>
          </a:xfrm>
          <a:prstGeom prst="rect">
            <a:avLst/>
          </a:prstGeom>
          <a:solidFill>
            <a:srgbClr val="141E3C"/>
          </a:solidFill>
          <a:ln w="12700">
            <a:solidFill>
              <a:srgbClr val="37D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79008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· TOGAF · COBIT · ITIL · NIST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797296" y="3502152"/>
            <a:ext cx="2761488" cy="457200"/>
          </a:xfrm>
          <a:prstGeom prst="rect">
            <a:avLst/>
          </a:prstGeom>
          <a:solidFill>
            <a:srgbClr val="141E3C"/>
          </a:solidFill>
          <a:ln w="12700">
            <a:solidFill>
              <a:srgbClr val="2EE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07024" y="350215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E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· AI · BLOCKCHAIN · OPEN DATA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25312" y="2935224"/>
            <a:ext cx="2505456" cy="457200"/>
          </a:xfrm>
          <a:prstGeom prst="rect">
            <a:avLst/>
          </a:prstGeom>
          <a:solidFill>
            <a:srgbClr val="141E3C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0" y="2935224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· WORKFLOWS · SERVICES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053328" y="2368296"/>
            <a:ext cx="2249424" cy="457200"/>
          </a:xfrm>
          <a:prstGeom prst="rect">
            <a:avLst/>
          </a:prstGeom>
          <a:solidFill>
            <a:srgbClr val="141E3C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63056" y="236829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81344" y="1801368"/>
            <a:ext cx="1993392" cy="457200"/>
          </a:xfrm>
          <a:prstGeom prst="rect">
            <a:avLst/>
          </a:prstGeom>
          <a:solidFill>
            <a:srgbClr val="141E3C"/>
          </a:solidFill>
          <a:ln w="12700">
            <a:solidFill>
              <a:srgbClr val="FF5D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91072" y="1801368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7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1234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MULTIDIMENSIONAL DE GOBERNANZA LEGALTECH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153619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MALTG</a:t>
            </a:r>
            <a:endParaRPr lang="en-US" sz="6000" dirty="0"/>
          </a:p>
        </p:txBody>
      </p:sp>
      <p:sp>
        <p:nvSpPr>
          <p:cNvPr id="15" name="Text 12"/>
          <p:cNvSpPr/>
          <p:nvPr/>
        </p:nvSpPr>
        <p:spPr>
          <a:xfrm>
            <a:off x="502920" y="254203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Gemelos digitales estructurales y cognitivos para validar la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tecnológica y la salud procesal de la justicia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30352" y="3520440"/>
            <a:ext cx="4206240" cy="0"/>
          </a:xfrm>
          <a:prstGeom prst="line">
            <a:avLst/>
          </a:prstGeom>
          <a:noFill/>
          <a:ln w="12700">
            <a:solidFill>
              <a:srgbClr val="2734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63931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 ·  Innovación  ·  Relevancia científica  ·  Funcionamiento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dockerizada · ontología OWL + COGEP · razonador jurídico explicable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02920" y="4526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estudio: Judicatura Ecuador — COGEP ·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solidFill>
            <a:srgbClr val="1B2750"/>
          </a:solidFill>
          <a:ln w="9525">
            <a:solidFill>
              <a:srgbClr val="273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0704" y="27432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problema: cumplimiento procesal invisible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0704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entre los marcos de gobernanza TI y la operación procesal real de una judicatura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 · Multi-layer Architecture LegalTech Governance · Judicatura Ecuador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5577840" cy="950976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43000"/>
            <a:ext cx="64008" cy="950976"/>
          </a:xfrm>
          <a:prstGeom prst="rect">
            <a:avLst/>
          </a:prstGeom>
          <a:solidFill>
            <a:srgbClr val="FFC947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98448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15568" y="121615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términos del COGEP se incumplen sin trazabilidad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15568" y="149047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Art. 73 define términos en días hábiles, pero ningún tablero institucional mide si la calificación (Art. 146), la audiencia (Art. 333.4) o la sentencia (Art. 93) se dictan a tiempo.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2221992"/>
            <a:ext cx="5577840" cy="950976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221992"/>
            <a:ext cx="64008" cy="950976"/>
          </a:xfrm>
          <a:prstGeom prst="rect">
            <a:avLst/>
          </a:prstGeom>
          <a:solidFill>
            <a:srgbClr val="37D6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77440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15568" y="229514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 aislados y sin evidencia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1115568" y="256946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TOGAF, COBIT, ITIL y NIST CSF se declaran adoptados, pero la conformidad se autoevalúa: no existe un mecanismo formal que la contraste con la arquitectura implementada.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57200" y="3300984"/>
            <a:ext cx="5577840" cy="950976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300984"/>
            <a:ext cx="64008" cy="950976"/>
          </a:xfrm>
          <a:prstGeom prst="rect">
            <a:avLst/>
          </a:prstGeom>
          <a:solidFill>
            <a:srgbClr val="B07C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5643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15568" y="337413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Tecnologías emergentes sin materializar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1115568" y="364845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IA, Blockchain y Open Data aparecen en los planes estratégicos de justicia digital sin demostraciones operativas verificables.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263640" y="1143000"/>
            <a:ext cx="2423160" cy="731520"/>
          </a:xfrm>
          <a:prstGeom prst="rect">
            <a:avLst/>
          </a:prstGeom>
          <a:solidFill>
            <a:srgbClr val="0E1833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400800" y="1197864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7269480" y="1234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 gobernanza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modeladas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6263640" y="1984248"/>
            <a:ext cx="2423160" cy="731520"/>
          </a:xfrm>
          <a:prstGeom prst="rect">
            <a:avLst/>
          </a:prstGeom>
          <a:solidFill>
            <a:srgbClr val="0E1833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6400800" y="2039112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9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000" dirty="0"/>
          </a:p>
        </p:txBody>
      </p:sp>
      <p:sp>
        <p:nvSpPr>
          <p:cNvPr id="28" name="Text 23"/>
          <p:cNvSpPr/>
          <p:nvPr/>
        </p:nvSpPr>
        <p:spPr>
          <a:xfrm>
            <a:off x="7269480" y="20756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COGEP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parametrizados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6263640" y="2825496"/>
            <a:ext cx="2423160" cy="731520"/>
          </a:xfrm>
          <a:prstGeom prst="rect">
            <a:avLst/>
          </a:prstGeom>
          <a:solidFill>
            <a:srgbClr val="0E1833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6400800" y="2880360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E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000" dirty="0"/>
          </a:p>
        </p:txBody>
      </p:sp>
      <p:sp>
        <p:nvSpPr>
          <p:cNvPr id="31" name="Text 26"/>
          <p:cNvSpPr/>
          <p:nvPr/>
        </p:nvSpPr>
        <p:spPr>
          <a:xfrm>
            <a:off x="7269480" y="29169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expedientes reales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e-SATJE analizados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263640" y="3666744"/>
            <a:ext cx="2423160" cy="731520"/>
          </a:xfrm>
          <a:prstGeom prst="rect">
            <a:avLst/>
          </a:prstGeom>
          <a:solidFill>
            <a:srgbClr val="0E1833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6400800" y="3721608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7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181</a:t>
            </a:r>
            <a:endParaRPr lang="en-US" sz="3000" dirty="0"/>
          </a:p>
        </p:txBody>
      </p:sp>
      <p:sp>
        <p:nvSpPr>
          <p:cNvPr id="34" name="Text 29"/>
          <p:cNvSpPr/>
          <p:nvPr/>
        </p:nvSpPr>
        <p:spPr>
          <a:xfrm>
            <a:off x="7269480" y="37581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 del COGEP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formalizadas en KB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solidFill>
            <a:srgbClr val="1B2750"/>
          </a:solidFill>
          <a:ln w="9525">
            <a:solidFill>
              <a:srgbClr val="273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0704" y="27432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solución de un vistazo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0704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completo: del marco normativo al dictamen automático con evidencia real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 · Multi-layer Architecture LegalTech Governance · Judicatura Ecuador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298448" cy="1481328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71600"/>
            <a:ext cx="64008" cy="1481328"/>
          </a:xfrm>
          <a:prstGeom prst="rect">
            <a:avLst/>
          </a:prstGeom>
          <a:solidFill>
            <a:srgbClr val="37D6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44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175564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capas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01 · JSON-LD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709928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865376" y="1371600"/>
            <a:ext cx="1298448" cy="1481328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65376" y="1371600"/>
            <a:ext cx="64008" cy="1481328"/>
          </a:xfrm>
          <a:prstGeom prst="rect">
            <a:avLst/>
          </a:prstGeom>
          <a:solidFill>
            <a:srgbClr val="B07CFF"/>
          </a:solidFill>
          <a:ln/>
        </p:spPr>
      </p:sp>
      <p:sp>
        <p:nvSpPr>
          <p:cNvPr id="16" name="Text 14"/>
          <p:cNvSpPr/>
          <p:nvPr/>
        </p:nvSpPr>
        <p:spPr>
          <a:xfrm>
            <a:off x="1956816" y="1444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7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56816" y="175564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Ontología Ω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MALTG + COGEP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56816" y="23774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2 · KB editable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118104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73552" y="1371600"/>
            <a:ext cx="1298448" cy="1481328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73552" y="1371600"/>
            <a:ext cx="64008" cy="148132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2" name="Text 20"/>
          <p:cNvSpPr/>
          <p:nvPr/>
        </p:nvSpPr>
        <p:spPr>
          <a:xfrm>
            <a:off x="3364992" y="1444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64992" y="175564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Gemelo Δ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estructural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64992" y="23774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 · Tab 04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26280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81728" y="1371600"/>
            <a:ext cx="1298448" cy="1481328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1728" y="1371600"/>
            <a:ext cx="64008" cy="1481328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28" name="Text 26"/>
          <p:cNvSpPr/>
          <p:nvPr/>
        </p:nvSpPr>
        <p:spPr>
          <a:xfrm>
            <a:off x="4773168" y="1444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73168" y="175564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Validación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Ψ · δ · 9D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3168" y="23774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brechas · Tab 05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934456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89904" y="1371600"/>
            <a:ext cx="1298448" cy="1481328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9904" y="1371600"/>
            <a:ext cx="64008" cy="1481328"/>
          </a:xfrm>
          <a:prstGeom prst="rect">
            <a:avLst/>
          </a:prstGeom>
          <a:solidFill>
            <a:srgbClr val="2EE6A0"/>
          </a:solidFill>
          <a:ln/>
        </p:spPr>
      </p:sp>
      <p:sp>
        <p:nvSpPr>
          <p:cNvPr id="34" name="Text 32"/>
          <p:cNvSpPr/>
          <p:nvPr/>
        </p:nvSpPr>
        <p:spPr>
          <a:xfrm>
            <a:off x="6181344" y="1444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E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181344" y="175564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Gemelo cognitivo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BPMN + causas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81344" y="23774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procesal · Tab 06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342632" y="18745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98080" y="1371600"/>
            <a:ext cx="1298448" cy="1481328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98080" y="1371600"/>
            <a:ext cx="64008" cy="1481328"/>
          </a:xfrm>
          <a:prstGeom prst="rect">
            <a:avLst/>
          </a:prstGeom>
          <a:solidFill>
            <a:srgbClr val="FF5D7A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0" y="14447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D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589520" y="175564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+ Dashboard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salud del juicio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89520" y="23774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Dictamen · chat · alertas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7200" y="3200400"/>
            <a:ext cx="8229600" cy="1417320"/>
          </a:xfrm>
          <a:prstGeom prst="rect">
            <a:avLst/>
          </a:prstGeom>
          <a:solidFill>
            <a:srgbClr val="0E1833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3200400"/>
            <a:ext cx="64008" cy="1417320"/>
          </a:xfrm>
          <a:prstGeom prst="rect">
            <a:avLst/>
          </a:prstGeom>
          <a:solidFill>
            <a:srgbClr val="37D6FF"/>
          </a:solidFill>
          <a:ln/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456432"/>
            <a:ext cx="457200" cy="457200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325880" y="33649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sola aplicación dockerizada (FastAPI + frontend interactivo de 9 pestañas)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1325880" y="365760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artefactos son archivos editables montados como volúmenes: </a:t>
            </a:r>
            <a:pPr indent="0" marL="0">
              <a:buNone/>
            </a:pPr>
            <a:r>
              <a:rPr lang="en-US" sz="1050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MALTG_onto.owl · dt_arch.json · cogep_kb.json · expedientes JSON</a:t>
            </a:r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cambiar el conocimiento no requiere tocar código: el dashboard, el razonador y el chat se actualizan al recargar.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solidFill>
            <a:srgbClr val="1B2750"/>
          </a:solidFill>
          <a:ln w="9525">
            <a:solidFill>
              <a:srgbClr val="273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0704" y="27432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multidimensional — 5 capas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0704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JSON-LD (1_MALTG.json) · cada capa declara rol, impacto y componentes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 · Multi-layer Architecture LegalTech Governance · Judicatura Ecuador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6035040" cy="621792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88720"/>
            <a:ext cx="64008" cy="621792"/>
          </a:xfrm>
          <a:prstGeom prst="rect">
            <a:avLst/>
          </a:prstGeom>
          <a:solidFill>
            <a:srgbClr val="FF5D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435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D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STRATEGIC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4996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· Portfolio · Risk · Metrics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11880" y="124358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estratégica institucional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11880" y="1554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 · impacto crítico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901952"/>
            <a:ext cx="6035040" cy="621792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01952"/>
            <a:ext cx="64008" cy="621792"/>
          </a:xfrm>
          <a:prstGeom prst="rect">
            <a:avLst/>
          </a:prstGeom>
          <a:solidFill>
            <a:srgbClr val="B07C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19568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7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GOVERNANCE &amp; COMPLIANCE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22128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GDPR/LOPDP · Ethics · Regulation · Audit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11880" y="19568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regulatorio y ética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611880" y="2267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Empresarial · impacto crítico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615184"/>
            <a:ext cx="6035040" cy="621792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15184"/>
            <a:ext cx="64008" cy="621792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2670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OPERATIONAL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29260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· Services · Incidents · Changes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11880" y="2670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procesos y servicios — aquí vive el flujo procesal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11880" y="29809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Táctico · impacto medio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328416"/>
            <a:ext cx="6035040" cy="621792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328416"/>
            <a:ext cx="64008" cy="621792"/>
          </a:xfrm>
          <a:prstGeom prst="rect">
            <a:avLst/>
          </a:prstGeom>
          <a:solidFill>
            <a:srgbClr val="2EE6A0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33832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E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TECHNOLOGY INTEGRATION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" y="36393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Blockchain · Open Data · Security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11880" y="33832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 y patrones de integración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11880" y="36941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· impacto medio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4041648"/>
            <a:ext cx="6035040" cy="621792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041648"/>
            <a:ext cx="64008" cy="621792"/>
          </a:xfrm>
          <a:prstGeom prst="rect">
            <a:avLst/>
          </a:prstGeom>
          <a:solidFill>
            <a:srgbClr val="37D6FF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40965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· FOUNDATION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" y="43525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TOGAF · COBIT · ITIL · NIST CSF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11880" y="40965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y marcos empresariales de base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11880" y="44074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720840" y="1188720"/>
            <a:ext cx="1965960" cy="3493008"/>
          </a:xfrm>
          <a:prstGeom prst="rect">
            <a:avLst/>
          </a:prstGeom>
          <a:solidFill>
            <a:srgbClr val="0E1833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2" y="1371600"/>
            <a:ext cx="457200" cy="45720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6858000" y="19385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Drill-down interactivo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876288" y="2395728"/>
            <a:ext cx="16642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 01 renderiza este modelo como diagrama navegable: la capa Foundation se expande a su propia arquitectura (ADM de TOGAF, dominios COBIT, funciones NIST CSF).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Transiciones y preocupaciones transversales (seguridad, interoperabilidad) cruzan las 5 capas.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solidFill>
            <a:srgbClr val="1B2750"/>
          </a:solidFill>
          <a:ln w="9525">
            <a:solidFill>
              <a:srgbClr val="273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0704" y="27432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Doble consolidación ontológica (Ω)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0704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ontologías conectadas: la de gobernanza (qué debe existir) y la procesal (cómo debe tramitarse)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 · Multi-layer Architecture LegalTech Governance · Judicatura Ecuador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69080" cy="347472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88720"/>
            <a:ext cx="64008" cy="3474720"/>
          </a:xfrm>
          <a:prstGeom prst="rect">
            <a:avLst/>
          </a:prstGeom>
          <a:solidFill>
            <a:srgbClr val="B07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389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7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MALTG_onto.owl — gobernanza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1874520"/>
            <a:ext cx="363931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Ontología OWL 2 (RDF/XML) con tres dominios: Foundation (TOGAF·COBIT·NIST), Technology Integration (IA·Blockchain·OpenData·Security) y LegalTech Domain (CLM, eDiscovery, notarización DLT, cumplimiento).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Anotaciones propias por clase: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maltg:layer — dimensión de validación a la que tributa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maltg:score — madurez declarada 0-100 (vector score_Ω)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maltg:weight — fuerza de las relaciones (ObjectProperty)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parsea en runtime (/api/ontology) y se visualiza como grafo de fuerza en el Tab 03.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63440" y="1188720"/>
            <a:ext cx="4023360" cy="347472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188720"/>
            <a:ext cx="64008" cy="3474720"/>
          </a:xfrm>
          <a:prstGeom prst="rect">
            <a:avLst/>
          </a:prstGeom>
          <a:solidFill>
            <a:srgbClr val="FFC94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71600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94960" y="1389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C9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cogep_kb.json — procesal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892040" y="1874520"/>
            <a:ext cx="3611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COGEP (181 páginas) formalizado como base de conocimiento jerárquica: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→ Etapa → Acto procesal → Término → Artículo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procedimientos: Sumario (332-333), Ordinario (289-298), Ejecución (362-389)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actos con keywords que los anclan a las providencias reales del e-SATJE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reglas de término con el texto literal de la norma (Arts. 146, 291, 292, 333, 93, 257)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Sujetos y principios rectores (Arts. 3-8)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Visualizada como grafo navegable en el Tab 09; es el conocimiento que 'entrena' al razonador.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solidFill>
            <a:srgbClr val="1B2750"/>
          </a:solidFill>
          <a:ln w="9525">
            <a:solidFill>
              <a:srgbClr val="273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0704" y="27432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Gemelo digital estructural (Δ) y mapeo (Γ)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0704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dt_arch.json: grafo dirigido del microservicio objetivo, anotado contra la ontología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 · Multi-layer Architecture LegalTech Governance · Judicatura Ecuador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804672" cy="1554480"/>
          </a:xfrm>
          <a:prstGeom prst="rect">
            <a:avLst/>
          </a:prstGeom>
          <a:solidFill>
            <a:srgbClr val="0E1833"/>
          </a:solidFill>
          <a:ln w="12700">
            <a:solidFill>
              <a:srgbClr val="FFC9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801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FFC9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84248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FFC9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368296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FFC9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3584" y="17830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53312" y="1234440"/>
            <a:ext cx="804672" cy="1554480"/>
          </a:xfrm>
          <a:prstGeom prst="rect">
            <a:avLst/>
          </a:prstGeom>
          <a:solidFill>
            <a:srgbClr val="0E1833"/>
          </a:solidFill>
          <a:ln w="12700">
            <a:solidFill>
              <a:srgbClr val="FF5D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3312" y="12801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444752" y="1600200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FF5D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4752" y="1984248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FF5D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44752" y="2368296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FF5D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39696" y="17830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49424" y="1234440"/>
            <a:ext cx="804672" cy="1554480"/>
          </a:xfrm>
          <a:prstGeom prst="rect">
            <a:avLst/>
          </a:prstGeom>
          <a:solidFill>
            <a:srgbClr val="0E1833"/>
          </a:solidFill>
          <a:ln w="12700">
            <a:solidFill>
              <a:srgbClr val="37D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9424" y="12801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7D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340864" y="1600200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37D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0864" y="1984248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37D6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0864" y="2368296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37D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35808" y="17830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45536" y="1234440"/>
            <a:ext cx="804672" cy="1554480"/>
          </a:xfrm>
          <a:prstGeom prst="rect">
            <a:avLst/>
          </a:prstGeom>
          <a:solidFill>
            <a:srgbClr val="0E1833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45536" y="12801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36976" y="1600200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B07C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36976" y="1984248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B07C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36976" y="2368296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B07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17830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41648" y="1234440"/>
            <a:ext cx="804672" cy="1554480"/>
          </a:xfrm>
          <a:prstGeom prst="rect">
            <a:avLst/>
          </a:prstGeom>
          <a:solidFill>
            <a:srgbClr val="0E1833"/>
          </a:solidFill>
          <a:ln w="12700">
            <a:solidFill>
              <a:srgbClr val="2EE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41648" y="12801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E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133088" y="1600200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2EE6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33088" y="1984248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2EE6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33088" y="2368296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2EE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17830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37760" y="1234440"/>
            <a:ext cx="804672" cy="1554480"/>
          </a:xfrm>
          <a:prstGeom prst="rect">
            <a:avLst/>
          </a:prstGeom>
          <a:solidFill>
            <a:srgbClr val="0E1833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28016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LEGALTECH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029200" y="1600200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1984248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0" y="2368296"/>
            <a:ext cx="621792" cy="274320"/>
          </a:xfrm>
          <a:prstGeom prst="rect">
            <a:avLst/>
          </a:prstGeom>
          <a:solidFill>
            <a:srgbClr val="141E3C"/>
          </a:solidFill>
          <a:ln w="6350">
            <a:solidFill>
              <a:srgbClr val="60A5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285292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→ Zero-Trust → Service Mesh → microservicios LegalTech → datos y eventos: cada nodo es un servicio tipado (τ) con posición, conexiones y salud simulada.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80760" y="1234440"/>
            <a:ext cx="2606040" cy="210312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80760" y="1234440"/>
            <a:ext cx="64008" cy="2103120"/>
          </a:xfrm>
          <a:prstGeom prst="rect">
            <a:avLst/>
          </a:prstGeom>
          <a:solidFill>
            <a:srgbClr val="37D6FF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Γ : C → 2ᵛ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263640" y="175564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declara maltg_ref: los conceptos de Ω que implementa.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2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"id": "lt_dlt_notary",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2EE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"maltg_ref": ["Legal_DLT_Notarization", "Smart_Contracts"]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unión de referencias forma el conjunto de cobertura R.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3520440"/>
            <a:ext cx="8229600" cy="1143000"/>
          </a:xfrm>
          <a:prstGeom prst="rect">
            <a:avLst/>
          </a:prstGeom>
          <a:solidFill>
            <a:srgbClr val="0E1833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57200" y="3520440"/>
            <a:ext cx="64008" cy="1143000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" y="3611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9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'gemelo'? Precisión terminológica (Kritzinger et al., 2018)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658368" y="38862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es formalmente un modelo digital (sin telemetría automática del sistema real). La propuesta lo declara así y lo complementa con el gemelo cognitivo-procesal (S08), que sí consume datos reales del e-SATJE — alcanzando el nivel de digital shadow. Esta honestidad taxonómica es parte de la contribución.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solidFill>
            <a:srgbClr val="1B2750"/>
          </a:solidFill>
          <a:ln w="9525">
            <a:solidFill>
              <a:srgbClr val="273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0704" y="27432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formal — MALTG = ⟨Ω, Δ, Γ, Ψ, δ⟩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0704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5 fases (ORE → DTSM → HCS → LDCC → MDGA) con garantías demostrables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 · Multi-layer Architecture LegalTech Governance · Judicatura Ecuador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394960" cy="512064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88720"/>
            <a:ext cx="64008" cy="512064"/>
          </a:xfrm>
          <a:prstGeom prst="rect">
            <a:avLst/>
          </a:prstGeom>
          <a:solidFill>
            <a:srgbClr val="B07CFF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" y="122529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7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12344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ontológico de referencia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123444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⟨C, P, I, ≤, A⟩ — clases, propiedades, subsunción y anotaciones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792224"/>
            <a:ext cx="5394960" cy="512064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92224"/>
            <a:ext cx="64008" cy="5120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18288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183794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Gemelo digital estructural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1837944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G(V, E) con tipado τ y mapeo μ: V → 2ᶜ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2395728"/>
            <a:ext cx="5394960" cy="512064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395728"/>
            <a:ext cx="64008" cy="512064"/>
          </a:xfrm>
          <a:prstGeom prst="rect">
            <a:avLst/>
          </a:prstGeom>
          <a:solidFill>
            <a:srgbClr val="37D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" y="243230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Γ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244144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Mapeo de conformidad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0" y="24414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Γ(c) = { v ∈ V | c ∈ μ(v) }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999232"/>
            <a:ext cx="5394960" cy="512064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999232"/>
            <a:ext cx="64008" cy="512064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" y="30358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9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Ψ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43000" y="304495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Cobertura jerárquica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91840" y="304495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Ψ(d) = 0.4·𝟙[raíz ∈ R] + 0.6·(|sub ∩ R| / |sub|)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3602736"/>
            <a:ext cx="5394960" cy="512064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602736"/>
            <a:ext cx="64008" cy="512064"/>
          </a:xfrm>
          <a:prstGeom prst="rect">
            <a:avLst/>
          </a:prstGeom>
          <a:solidFill>
            <a:srgbClr val="FF5D7A"/>
          </a:solidFill>
          <a:ln/>
        </p:spPr>
      </p:sp>
      <p:sp>
        <p:nvSpPr>
          <p:cNvPr id="30" name="Text 28"/>
          <p:cNvSpPr/>
          <p:nvPr/>
        </p:nvSpPr>
        <p:spPr>
          <a:xfrm>
            <a:off x="603504" y="363931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D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43000" y="364845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Brecha de conformidad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91840" y="3648456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δ(d) = score_Ω(d) · (1 − Ψ(d))  →  ranking de remediación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35040" y="1188720"/>
            <a:ext cx="2651760" cy="2889504"/>
          </a:xfrm>
          <a:prstGeom prst="rect">
            <a:avLst/>
          </a:prstGeom>
          <a:solidFill>
            <a:srgbClr val="0E1833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1188720"/>
            <a:ext cx="64008" cy="2889504"/>
          </a:xfrm>
          <a:prstGeom prst="rect">
            <a:avLst/>
          </a:prstGeom>
          <a:solidFill>
            <a:srgbClr val="2EE6A0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1325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Garantías del motor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17920" y="164592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Determinismo — mismas entradas, mismos puntajes (sin aleatoriedad)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Monotonicidad — cubrir un concepto nunca reduce un score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Completitud — toda clase puntuada tributa a exactamente una dimensión</a:t>
            </a:r>
            <a:endParaRPr lang="en-US" sz="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Acotación — scores ∈ [0,100], Ψ ∈ [0,1], δ ≥ 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dimensiones evaluadas: TOGAF · COBIT · NIST · IA · Blockchain · Open Data · Security · Interoperabilidad · LegalTech — radar Ω vs Δ y top-3 de brechas en el Tab 05.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solidFill>
            <a:srgbClr val="1B2750"/>
          </a:solidFill>
          <a:ln w="9525">
            <a:solidFill>
              <a:srgbClr val="273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0704" y="27432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Gemelo cognitivo-procesal: evidencia real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0704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BPMN del COGEP + expedientes reales del e-SATJE = digital shadow del proceso judicial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 · Multi-layer Architecture LegalTech Governance · Judicatura Ecuador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377440" cy="530352"/>
          </a:xfrm>
          <a:prstGeom prst="rect">
            <a:avLst/>
          </a:prstGeom>
          <a:solidFill>
            <a:srgbClr val="141E3C"/>
          </a:solidFill>
          <a:ln w="15875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71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digital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600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estructural — datos manuales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31520" y="1965960"/>
            <a:ext cx="2377440" cy="530352"/>
          </a:xfrm>
          <a:prstGeom prst="rect">
            <a:avLst/>
          </a:prstGeom>
          <a:solidFill>
            <a:srgbClr val="141E3C"/>
          </a:solidFill>
          <a:ln w="15875">
            <a:solidFill>
              <a:srgbClr val="FFC9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116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9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Sombra digital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22402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Gemelo procesal — datos reales automáticos →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005840" y="2606040"/>
            <a:ext cx="2377440" cy="530352"/>
          </a:xfrm>
          <a:prstGeom prst="rect">
            <a:avLst/>
          </a:prstGeom>
          <a:solidFill>
            <a:srgbClr val="141E3C"/>
          </a:solidFill>
          <a:ln w="15875">
            <a:solidFill>
              <a:srgbClr val="5D6F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6F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Gemelo digital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15568" y="28803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Futuro: retroalimentación al e-SATJE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 asciende un peldaño en la taxonomía de gemelos: las actuaciones reales fluyen del expediente al diagrama sin intervención manual.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23360" y="1188720"/>
            <a:ext cx="4663440" cy="347472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23360" y="1188720"/>
            <a:ext cx="64008" cy="3474720"/>
          </a:xfrm>
          <a:prstGeom prst="rect">
            <a:avLst/>
          </a:prstGeom>
          <a:solidFill>
            <a:srgbClr val="2EE6A0"/>
          </a:solidFill>
          <a:ln/>
        </p:spPr>
      </p:sp>
      <p:sp>
        <p:nvSpPr>
          <p:cNvPr id="20" name="Text 18"/>
          <p:cNvSpPr/>
          <p:nvPr/>
        </p:nvSpPr>
        <p:spPr>
          <a:xfrm>
            <a:off x="4224528" y="1325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E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 06 — flujo procesal vivo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24528" y="1691640"/>
            <a:ext cx="4251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BPMN real del procedimiento (etapas, actividades, eventos, tiempos estimados) parseado desde el formato JointJS del Consejo de la Judicatura.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causa real se superpone al flujo: nodos recorridos resaltados con el orden cronológico de sus providencias (seq 1…n).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direccionales animados coloreados por cumplimiento; nodos con término vencido pulsan en rojo con la etiqueta del exceso (+N días).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Recorrido: un token animado reproduce la tramitación paso a paso.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una actividad → detalle de la providencia + dictamen IA con el artículo aplicado.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solidFill>
            <a:srgbClr val="1B2750"/>
          </a:solidFill>
          <a:ln w="9525">
            <a:solidFill>
              <a:srgbClr val="273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0704" y="27432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IA: razonador jurídico simbólico COGEP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0704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Determinista y explicable (XAI): cada juicio de valor cita el artículo y muestra el cómputo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 · Multi-layer Architecture LegalTech Governance · Judicatura Ecuador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554480" cy="105156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2984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Providencia real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NombreProvidencia + fecha del e-SATJE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157984" y="1234440"/>
            <a:ext cx="1554480" cy="105156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57984" y="1234440"/>
            <a:ext cx="64008" cy="1051560"/>
          </a:xfrm>
          <a:prstGeom prst="rect">
            <a:avLst/>
          </a:prstGeom>
          <a:solidFill>
            <a:srgbClr val="B07CFF"/>
          </a:solidFill>
          <a:ln/>
        </p:spPr>
      </p:sp>
      <p:sp>
        <p:nvSpPr>
          <p:cNvPr id="15" name="Text 13"/>
          <p:cNvSpPr/>
          <p:nvPr/>
        </p:nvSpPr>
        <p:spPr>
          <a:xfrm>
            <a:off x="2249424" y="12984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7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49424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Anclaje léxico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49424" y="18105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→ acto procesal de la ontología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858768" y="1234440"/>
            <a:ext cx="1554480" cy="105156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58768" y="1234440"/>
            <a:ext cx="64008" cy="1051560"/>
          </a:xfrm>
          <a:prstGeom prst="rect">
            <a:avLst/>
          </a:prstGeom>
          <a:solidFill>
            <a:srgbClr val="37D6FF"/>
          </a:solidFill>
          <a:ln/>
        </p:spPr>
      </p:sp>
      <p:sp>
        <p:nvSpPr>
          <p:cNvPr id="20" name="Text 18"/>
          <p:cNvSpPr/>
          <p:nvPr/>
        </p:nvSpPr>
        <p:spPr>
          <a:xfrm>
            <a:off x="3950208" y="12984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50208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Cómputo legal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50208" y="18105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hábiles entre actos (Art. 73)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559552" y="1234440"/>
            <a:ext cx="1554480" cy="105156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559552" y="1234440"/>
            <a:ext cx="64008" cy="1051560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25" name="Text 23"/>
          <p:cNvSpPr/>
          <p:nvPr/>
        </p:nvSpPr>
        <p:spPr>
          <a:xfrm>
            <a:off x="5650992" y="12984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50992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Veredicto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50992" y="18105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· ALERTA · INCUMPLE (umbral ×1.25)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260336" y="1234440"/>
            <a:ext cx="1554480" cy="105156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60336" y="1234440"/>
            <a:ext cx="64008" cy="1051560"/>
          </a:xfrm>
          <a:prstGeom prst="rect">
            <a:avLst/>
          </a:prstGeom>
          <a:solidFill>
            <a:srgbClr val="2EE6A0"/>
          </a:solidFill>
          <a:ln/>
        </p:spPr>
      </p:sp>
      <p:sp>
        <p:nvSpPr>
          <p:cNvPr id="30" name="Text 28"/>
          <p:cNvSpPr/>
          <p:nvPr/>
        </p:nvSpPr>
        <p:spPr>
          <a:xfrm>
            <a:off x="7351776" y="129844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E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51776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Dictamen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51776" y="18105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fundamentado + artículo + responsable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57200" y="2542032"/>
            <a:ext cx="5577840" cy="2103120"/>
          </a:xfrm>
          <a:prstGeom prst="rect">
            <a:avLst/>
          </a:prstGeom>
          <a:solidFill>
            <a:srgbClr val="0E1833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2542032"/>
            <a:ext cx="64008" cy="2103120"/>
          </a:xfrm>
          <a:prstGeom prst="rect">
            <a:avLst/>
          </a:prstGeom>
          <a:solidFill>
            <a:srgbClr val="FF5D7A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" y="26517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D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Dictamen real generado (causa 07333-2022-00763, inquilinato)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58368" y="29260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AF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“Conforme al Art. 146 COGEP — 'Presentada la demanda, la o el juzgador, en el término máximo de cinco días, examinará si cumple los requisitos legales…' — el término es de 5 días hábiles. Entre el 10-04-2022 y el 19-04-2022 transcurrieron 7 días hábiles. DICTAMEN: INCUMPLIMIENTO del término legal por 2 día(s) hábil(es).”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8368" y="4206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procesal resultante: 20/100 — 4 incumplimientos en 5 términos evaluados.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2542032"/>
            <a:ext cx="2468880" cy="630936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2697480"/>
            <a:ext cx="310896" cy="310896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6784848" y="2606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Expediente completo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784848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0-100 + alertas en el flujo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6217920" y="3264408"/>
            <a:ext cx="2468880" cy="630936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419856"/>
            <a:ext cx="310896" cy="310896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6784848" y="3328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PDF de una actuación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6784848" y="35753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acto, fechas y juez → dictamen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6217920" y="3986784"/>
            <a:ext cx="2468880" cy="630936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142232"/>
            <a:ext cx="310896" cy="310896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784848" y="4050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 flotante</a:t>
            </a:r>
            <a:endParaRPr lang="en-US" sz="950" dirty="0"/>
          </a:p>
        </p:txBody>
      </p:sp>
      <p:sp>
        <p:nvSpPr>
          <p:cNvPr id="49" name="Text 44"/>
          <p:cNvSpPr/>
          <p:nvPr/>
        </p:nvSpPr>
        <p:spPr>
          <a:xfrm>
            <a:off x="6784848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en lenguaje natural sobre la causa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solidFill>
            <a:srgbClr val="1B2750"/>
          </a:solidFill>
          <a:ln w="9525">
            <a:solidFill>
              <a:srgbClr val="273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0704" y="27432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Salud del juicio — resultados en causas reales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0704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0-100 = términos cumplidos vs. evaluables · 8 causas e-SATJE con términos evaluables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 · Multi-layer Architecture LegalTech Governance · Judicatura Ecuador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8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123444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126480" y="1389888"/>
            <a:ext cx="201168" cy="201168"/>
          </a:xfrm>
          <a:prstGeom prst="ellipse">
            <a:avLst/>
          </a:prstGeom>
          <a:solidFill>
            <a:srgbClr val="2EE6A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E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— </a:t>
            </a:r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término legal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26480" y="1956816"/>
            <a:ext cx="201168" cy="201168"/>
          </a:xfrm>
          <a:prstGeom prst="ellipse">
            <a:avLst/>
          </a:prstGeom>
          <a:solidFill>
            <a:srgbClr val="FFC94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1892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— </a:t>
            </a:r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≤ 25% del término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26480" y="2523744"/>
            <a:ext cx="201168" cy="201168"/>
          </a:xfrm>
          <a:prstGeom prst="ellipse">
            <a:avLst/>
          </a:prstGeom>
          <a:solidFill>
            <a:srgbClr val="FF5D7A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24597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INCUMPLE — </a:t>
            </a:r>
            <a:pPr indent="0" marL="0">
              <a:buNone/>
            </a:pPr>
            <a:r>
              <a:rPr lang="en-US" sz="9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 mayor — Art. 93: sancionable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5040" y="3154680"/>
            <a:ext cx="2651760" cy="1463040"/>
          </a:xfrm>
          <a:prstGeom prst="rect">
            <a:avLst/>
          </a:prstGeom>
          <a:solidFill>
            <a:srgbClr val="0E1833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0" y="3154680"/>
            <a:ext cx="64008" cy="1463040"/>
          </a:xfrm>
          <a:prstGeom prst="rect">
            <a:avLst/>
          </a:prstGeom>
          <a:solidFill>
            <a:srgbClr val="37D6FF"/>
          </a:solidFill>
          <a:ln/>
        </p:spPr>
      </p:sp>
      <p:sp>
        <p:nvSpPr>
          <p:cNvPr id="17" name="Text 14"/>
          <p:cNvSpPr/>
          <p:nvPr/>
        </p:nvSpPr>
        <p:spPr>
          <a:xfrm>
            <a:off x="6199632" y="32552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Lectura de gestión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199632" y="3529584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heterogeneidad (0 a 100) demuestra que el indicador discrimina: el cuello de botella dominante es la calificación de la demanda (Art. 146) y la convocatoria a audiencia única (Art. 333.4).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solidFill>
            <a:srgbClr val="1B2750"/>
          </a:solidFill>
          <a:ln w="9525">
            <a:solidFill>
              <a:srgbClr val="273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0704" y="27432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Materialización: AI · Blockchain · Open Data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0704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promesas: son demos operativas sobre cada causa, en vivo dentro del Tab 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 · Multi-layer Architecture LegalTech Governance · Judicatura Ecuador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342900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88720"/>
            <a:ext cx="64008" cy="3429000"/>
          </a:xfrm>
          <a:prstGeom prst="rect">
            <a:avLst/>
          </a:prstGeom>
          <a:solidFill>
            <a:srgbClr val="B07C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71600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" y="1371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— razonamiento jurídico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21792" y="196596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simbólico sobre cogep_kb.json: sin alucinaciones, 100% trazable.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Dictamen por término con cita literal de la norma.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conversacional con 12 intenciones (salud, plazos, actos, artículos, historial…).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documental de PDFs de actuaciones.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91840" y="1188720"/>
            <a:ext cx="2651760" cy="342900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188720"/>
            <a:ext cx="64008" cy="3429000"/>
          </a:xfrm>
          <a:prstGeom prst="rect">
            <a:avLst/>
          </a:prstGeom>
          <a:solidFill>
            <a:srgbClr val="2EE6A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371600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77640" y="1371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E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Blockchain — integridad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456432" y="196596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actuación = bloque: hash = SHA-256(idx | fecha | data | hash_prev).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la cadena en el navegador (Web Crypto API).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manipulación: alterar una actuación rompe visualmente todos los bloques posteriores.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Concepto: notarización DLT y no-repudio del expediente.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126480" y="1188720"/>
            <a:ext cx="2651760" cy="342900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26480" y="1188720"/>
            <a:ext cx="64008" cy="3429000"/>
          </a:xfrm>
          <a:prstGeom prst="rect">
            <a:avLst/>
          </a:prstGeom>
          <a:solidFill>
            <a:srgbClr val="FFC94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371600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12280" y="1371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C9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Data — justicia abierta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291072" y="1965960"/>
            <a:ext cx="2331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 exportable como JSON-LD (schema.org + DCAT + vocabulario MALTG).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CSV para análisis externo.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de dataset: licencia CC-BY 4.0, publicador, keywords.</a:t>
            </a:r>
            <a:endParaRPr lang="en-US" sz="9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Enlazado con el portal público de consulta de procesos (e-SATJE).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solidFill>
            <a:srgbClr val="1B2750"/>
          </a:solidFill>
          <a:ln w="9525">
            <a:solidFill>
              <a:srgbClr val="273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0704" y="27432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¿Dónde está la innovación?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0704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aportes que separan esta propuesta del estado de la práctica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 · Multi-layer Architecture LegalTech Governance · Judicatura Ecuador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621792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43000"/>
            <a:ext cx="64008" cy="621792"/>
          </a:xfrm>
          <a:prstGeom prst="rect">
            <a:avLst/>
          </a:prstGeom>
          <a:solidFill>
            <a:srgbClr val="37D6FF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1207008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Gemelo dual: estructural + cognitivo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86200" y="1188720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se modela la arquitectura TI (qué existe); se modela el conocimiento procesal y su ejecución real (cómo se tramita). Ambos gemelos comparten la misma capa ontológica.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1856232"/>
            <a:ext cx="8229600" cy="621792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56232"/>
            <a:ext cx="64008" cy="621792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9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1920240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Validación de conformidad cuantificada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86200" y="1901952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adopción de frameworks deja de ser declarativa: Ψ y δ producen un número auditable por dimensión, con ranking de brechas y radar Ω vs Δ.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569464"/>
            <a:ext cx="8229600" cy="621792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569464"/>
            <a:ext cx="64008" cy="621792"/>
          </a:xfrm>
          <a:prstGeom prst="rect">
            <a:avLst/>
          </a:prstGeom>
          <a:solidFill>
            <a:srgbClr val="B07CFF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07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2633472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jurídica explicable sin caja negra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86200" y="2615184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razonador simbólico emite juicios de valor sobre actuaciones judiciales citando el artículo y el cómputo exacto — apto para contextos donde un LLM opaco sería inadmisible.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3282696"/>
            <a:ext cx="8229600" cy="621792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282696"/>
            <a:ext cx="64008" cy="621792"/>
          </a:xfrm>
          <a:prstGeom prst="rect">
            <a:avLst/>
          </a:prstGeom>
          <a:solidFill>
            <a:srgbClr val="2EE6A0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E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88720" y="3346704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Evidencia real que rompe la circularidad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86200" y="3328416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expedientes del e-SATJE son evidencia independiente del modelador: la salud procesal medida alimenta la dimensión Operational/LegalTech de la gobernanza.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995928"/>
            <a:ext cx="8229600" cy="621792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995928"/>
            <a:ext cx="64008" cy="621792"/>
          </a:xfrm>
          <a:prstGeom prst="rect">
            <a:avLst/>
          </a:prstGeom>
          <a:solidFill>
            <a:srgbClr val="FF5D7A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D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188720" y="4059936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Conocimiento como dato, no como código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86200" y="4041648"/>
            <a:ext cx="4617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+ KB JSON montados como volúmenes: agregar un artículo del COGEP o un servicio al gemelo actualiza dashboard, razonador y chat sin reprogramar.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solidFill>
            <a:srgbClr val="1B2750"/>
          </a:solidFill>
          <a:ln w="9525">
            <a:solidFill>
              <a:srgbClr val="273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0704" y="27432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Relevancia científica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0704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Contribuciones verificables y diálogo con la literatura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 · Multi-layer Architecture LegalTech Governance · Judicatura Ecuador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5394960" cy="1060704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43000"/>
            <a:ext cx="64008" cy="1060704"/>
          </a:xfrm>
          <a:prstGeom prst="rect">
            <a:avLst/>
          </a:prstGeom>
          <a:solidFill>
            <a:srgbClr val="37D6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16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formal reproducible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 = ⟨Ω, Δ, Γ, Ψ, δ⟩ con propiedades demostrables (determinismo, monotonicidad, completitud, acotación) — cualquier investigador obtiene los mismos resultados con los mismos artefactos.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13432"/>
            <a:ext cx="5394960" cy="1060704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13432"/>
            <a:ext cx="64008" cy="106070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865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Taxonomía de gemelos aplicada a justicia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679192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 explícito modelo → sombra → gemelo (Kritzinger 2018) sobre Grieves &amp; Vickers (2017), un dominio (justicia procesal) casi inexplorado por la literatura de digital twins.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83864"/>
            <a:ext cx="5394960" cy="1060704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83864"/>
            <a:ext cx="64008" cy="1060704"/>
          </a:xfrm>
          <a:prstGeom prst="rect">
            <a:avLst/>
          </a:prstGeom>
          <a:solidFill>
            <a:srgbClr val="B07C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570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7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XAI simbólica en derecho procesal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84962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Formalización operativa de un código procesal nacional (COGEP) como ontología ejecutable — alternativa auditable a los LLM para juicios de valor jurídicos.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1143000"/>
            <a:ext cx="2651760" cy="3502152"/>
          </a:xfrm>
          <a:prstGeom prst="rect">
            <a:avLst/>
          </a:prstGeom>
          <a:solidFill>
            <a:srgbClr val="0E1833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298448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693408" y="1325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Anclaje bibliográfico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0" y="1810512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Grieves &amp; Vickers (2017) — Digital Twin: mitigating emergent behavior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Kritzinger et al. (2018) — clasificación model/shadow/twin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OWL 2 (2012) — especificación estructural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Lawshe (1975) — CVR adaptado a cobertura ontológica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Zachman (1987) — análisis de brechas multicapa</a:t>
            </a:r>
            <a:endParaRPr lang="en-US" sz="8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COGEP (R.O. 506, 2015; reformas a 2025) — corpus normativo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217920" y="4160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C9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Replicable a otros códigos (COIP, COA) y otras judicaturas de la región.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solidFill>
            <a:srgbClr val="1B2750"/>
          </a:solidFill>
          <a:ln w="9525">
            <a:solidFill>
              <a:srgbClr val="273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0704" y="27432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funciona — stack y flujo técnico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0704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up: un contenedor, datos montados como volúmenes, hot-reload total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 · Multi-layer Architecture LegalTech Governance · Judicatura Ecuador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577840" cy="73152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88720"/>
            <a:ext cx="64008" cy="731520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527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/data (volúmenes RO)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53619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MALTG_onto.owl · dt_arch.json · cogep_kb.json · workflow BPMN · 9 expedientes JSON · COGEP.pdf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017520" y="19019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29968"/>
            <a:ext cx="5577840" cy="73152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029968"/>
            <a:ext cx="64008" cy="731520"/>
          </a:xfrm>
          <a:prstGeom prst="rect">
            <a:avLst/>
          </a:prstGeom>
          <a:solidFill>
            <a:srgbClr val="37D6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0939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FastAPI (Python 3.12)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37744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Parsers OWL/BPMN/JointJS · motor Ψ/δ · razonador COGEP · ledger SHA-256 · export JSON-LD/CSV · 14 endpoints REST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17520" y="274320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71216"/>
            <a:ext cx="5577840" cy="73152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71216"/>
            <a:ext cx="64008" cy="731520"/>
          </a:xfrm>
          <a:prstGeom prst="rect">
            <a:avLst/>
          </a:prstGeom>
          <a:solidFill>
            <a:srgbClr val="B07C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352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7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(HTML + D3 + vis-network)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21868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tabs interactivos · radar y gráficos · grafo ontológico · flujo procesal animado · chat flotante · modo claro/oscuro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5577840" cy="896112"/>
          </a:xfrm>
          <a:prstGeom prst="rect">
            <a:avLst/>
          </a:prstGeom>
          <a:solidFill>
            <a:srgbClr val="0E1833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67328"/>
            <a:ext cx="64008" cy="896112"/>
          </a:xfrm>
          <a:prstGeom prst="rect">
            <a:avLst/>
          </a:prstGeom>
          <a:solidFill>
            <a:srgbClr val="2EE6A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4048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E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Petición típica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07822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/api/cogep/juicio?file=07333202200763.json → mapea 19 providencias → evalúa 7 reglas → {salud: 20, node_alerts, dictámenes} → el tab 06 pinta alertas pulsantes y el panel de salud en &lt;1 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63640" y="1188720"/>
            <a:ext cx="2423160" cy="3474720"/>
          </a:xfrm>
          <a:prstGeom prst="rect">
            <a:avLst/>
          </a:prstGeom>
          <a:solidFill>
            <a:srgbClr val="0E1833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1298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principal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1627632"/>
            <a:ext cx="2148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37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/api/ontology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37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/api/dt-arch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37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/api/validation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37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/api/methodology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37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/api/workflow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37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/api/expediente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37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/api/cogep/ontology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37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/api/cogep/juicio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37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/api/cogep/juicio-pdf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37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/api/cogep/chat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37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/api/ledger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37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/api/opendata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solidFill>
            <a:srgbClr val="1B2750"/>
          </a:solidFill>
          <a:ln w="9525">
            <a:solidFill>
              <a:srgbClr val="273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0704" y="27432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Recorrido de demostración sugerido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0704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paradas para defender la tesis en vivo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 · Multi-layer Architecture LegalTech Governance · Judicatura Ecuador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4023360" cy="100584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34440"/>
            <a:ext cx="64008" cy="1005840"/>
          </a:xfrm>
          <a:prstGeom prst="rect">
            <a:avLst/>
          </a:prstGeom>
          <a:solidFill>
            <a:srgbClr val="37D6FF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70432" y="1344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 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70432" y="16002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5 capas y drill-down del Foundation Layer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023360" cy="100584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34440"/>
            <a:ext cx="64008" cy="1005840"/>
          </a:xfrm>
          <a:prstGeom prst="rect">
            <a:avLst/>
          </a:prstGeom>
          <a:solidFill>
            <a:srgbClr val="B07CFF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1344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7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76672" y="1344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 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76672" y="16002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OWL: dominios, madurez y relaciones cruzadas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4023360" cy="100584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377440"/>
            <a:ext cx="64008" cy="1005840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9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70432" y="2487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 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70432" y="27432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Ω vs Δ: brechas por dimensión y top-3 de remediación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377440"/>
            <a:ext cx="4023360" cy="100584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2377440"/>
            <a:ext cx="64008" cy="1005840"/>
          </a:xfrm>
          <a:prstGeom prst="rect">
            <a:avLst/>
          </a:prstGeom>
          <a:solidFill>
            <a:srgbClr val="FF5D7A"/>
          </a:solidFill>
          <a:ln/>
        </p:spPr>
      </p:sp>
      <p:sp>
        <p:nvSpPr>
          <p:cNvPr id="25" name="Text 23"/>
          <p:cNvSpPr/>
          <p:nvPr/>
        </p:nvSpPr>
        <p:spPr>
          <a:xfrm>
            <a:off x="4791456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5D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376672" y="2487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 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76672" y="27432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causa 07333-2022: alertas rojas +Nd, ▶ Recorrido, salud 20/100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520440"/>
            <a:ext cx="4023360" cy="100584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520440"/>
            <a:ext cx="64008" cy="1005840"/>
          </a:xfrm>
          <a:prstGeom prst="rect">
            <a:avLst/>
          </a:prstGeom>
          <a:solidFill>
            <a:srgbClr val="2EE6A0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E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170432" y="3630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 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70432" y="38862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AI·BC·OD: romper la cadena, exportar JSON-LD, chat: '¿qué plazos se incumplieron?'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520440"/>
            <a:ext cx="4023360" cy="100584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520440"/>
            <a:ext cx="64008" cy="10058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376672" y="36301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 09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76672" y="38862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Ontología COGEP navegable + dictamen de un PDF de actuación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solidFill>
            <a:srgbClr val="1B2750"/>
          </a:solidFill>
          <a:ln w="9525">
            <a:solidFill>
              <a:srgbClr val="2734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0704" y="27432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AF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Limitaciones declaradas y trabajo futuro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60704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 metodológica como fortaleza de la tesis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MALTG · Multi-layer Architecture LegalTech Governance · Judicatura Ecuador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863840" y="48463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069080" cy="301752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88720"/>
            <a:ext cx="64008" cy="3017520"/>
          </a:xfrm>
          <a:prstGeom prst="rect">
            <a:avLst/>
          </a:prstGeom>
          <a:solidFill>
            <a:srgbClr val="FFC947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9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Limitaciones (declaradas)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1664208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hábiles sin feriados judiciales ni suspensiones de término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Anclaje léxico providencia→acto validable manualmente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demuestra el mecanismo, no es una red DLT distribuida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0.4/0.6 de Ψ pendientes de validación experta (AHP/Delphi)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regulatorio por nacionalizar: LOPDP e EGSI junto a GDPR/eIDAS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3017520"/>
          </a:xfrm>
          <a:prstGeom prst="rect">
            <a:avLst/>
          </a:prstGeom>
          <a:solidFill>
            <a:srgbClr val="141E3C"/>
          </a:solidFill>
          <a:ln w="9525">
            <a:solidFill>
              <a:srgbClr val="2734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188720"/>
            <a:ext cx="64008" cy="3017520"/>
          </a:xfrm>
          <a:prstGeom prst="rect">
            <a:avLst/>
          </a:prstGeom>
          <a:solidFill>
            <a:srgbClr val="2EE6A0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E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Trabajo futuro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664208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 e-SATJE en tiempo real → ascender de sombra a gemelo pleno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judicial oficial para el cómputo exacto de términos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 neuro-simbólico: LLM para lenguaje, KB para el veredicto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Anclaje de hashes en una red DLT pública o permisionada</a:t>
            </a:r>
            <a:endParaRPr lang="en-US" sz="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a COIP/COA y benchmark entre judicaturas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37D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MALTG: de la gobernanza declarada a la gobernanza demostrada.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MALTG — Gobernanza LegalTech con Gemelos Digitales</dc:title>
  <dc:subject>PptxGenJS Presentation</dc:subject>
  <dc:creator>pat_mic</dc:creator>
  <cp:lastModifiedBy>pat_mic</cp:lastModifiedBy>
  <cp:revision>1</cp:revision>
  <dcterms:created xsi:type="dcterms:W3CDTF">2026-06-12T03:52:34Z</dcterms:created>
  <dcterms:modified xsi:type="dcterms:W3CDTF">2026-06-12T03:52:34Z</dcterms:modified>
</cp:coreProperties>
</file>